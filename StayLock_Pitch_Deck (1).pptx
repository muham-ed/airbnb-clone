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بالـ tagline. جملة واحدة: إحنا خلّينا الحجز المزدوج مستحيل تقنيًا.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احكِ موقف حقيقي في 10 ثواني عن حجز اتلغى في آخر لحظة. القصة أقوى من أي رقم.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الأجزاء التلاتة في 20 ثانية وانتقل بسرعة للشريحة اللي بعدها، هي الأهم.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دي شريحة الفوز. لو سألوك عن "100%" قل: صفر تعارض على مستوى الحجوزات لنفس العقار، بضمان قاعدة البيانات.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ما تذكرش أرقام سوق أو نمو إلا لو معاك مصدر. النسب هنا مقترحة.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الـ Demo دقيقة: بحث، حجز، QR، ثم لحظة الرفض. جهّز فيديو احتياطي لو النت مش مضمون.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اختار طلب واحد واضح (pilot أو دعم) واختم بالـ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373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Clone · MVP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120640" y="1097280"/>
            <a:ext cx="6519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StayLock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468880"/>
            <a:ext cx="6519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منصة حجز عقاري تمنع الحجز المزدوج من قاعدة البيانات نفسها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931920"/>
            <a:ext cx="6519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i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بنحاول نمنع الـ double-booking. إحنا خلّيناه مستحيل.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394960"/>
            <a:ext cx="6519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Mohamed Ala'a &amp; Team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5806440"/>
            <a:ext cx="6519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Rally Startup Festival 2026 · Startup Mashup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ضيف وصل بشنطته... والشقة محجوزة لغيره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309360" y="1645920"/>
            <a:ext cx="5330952" cy="2834640"/>
          </a:xfrm>
          <a:prstGeom prst="roundRect">
            <a:avLst>
              <a:gd name="adj" fmla="val 4839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1920240"/>
            <a:ext cx="822960" cy="82296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4822" y="2117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المضيف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971800"/>
            <a:ext cx="4599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يدير عقاره على أكتر من قناة، فيحصل تعارض في الحجز. النتيجة: تعويضات، تقييم سيئ، وثقة ضايعة.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5330952" cy="2834640"/>
          </a:xfrm>
          <a:prstGeom prst="roundRect">
            <a:avLst>
              <a:gd name="adj" fmla="val 4839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6592" y="1920240"/>
            <a:ext cx="822960" cy="82296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102" y="21177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الضيف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2971800"/>
            <a:ext cx="4599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مؤكد وسفر بالعيلة... ورسالة إلغاء في آخر لحظة. وفوق كده واجهات معقدة ومفيش إثبات حجز واضح.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9375"/>
            </a:avLst>
          </a:prstGeom>
          <a:solidFill>
            <a:srgbClr val="2A1530"/>
          </a:solidFill>
          <a:ln w="12700">
            <a:solidFill>
              <a:srgbClr val="2A153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15600" y="5074920"/>
            <a:ext cx="822960" cy="822960"/>
          </a:xfrm>
          <a:prstGeom prst="ellipse">
            <a:avLst/>
          </a:prstGeom>
          <a:solidFill>
            <a:srgbClr val="3A1626"/>
          </a:solidFill>
          <a:ln w="12700">
            <a:solidFill>
              <a:srgbClr val="3A16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0" y="52724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8680" y="493776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 الجذري: </a:t>
            </a:r>
            <a:pPr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أغلب الأنظمة بتفحص التعارض في الـ application code. لما مستخدمين يضغطوا على نفس التاريخ في نفس اللحظة (race condition)، الفحص بيعدّي للاتنين.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متكاملة من 3 أجزاء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65592" y="1554480"/>
            <a:ext cx="3474720" cy="3749040"/>
          </a:xfrm>
          <a:prstGeom prst="roundRect">
            <a:avLst>
              <a:gd name="adj" fmla="val 3947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1828800"/>
            <a:ext cx="914400" cy="91440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0482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39912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Guest &amp; Host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39912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39912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جغرافي، اختيار تواريخ تفاعلي، وفاتورة PDF مع QR Code للتحقق.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57116" y="1554480"/>
            <a:ext cx="3474720" cy="3749040"/>
          </a:xfrm>
          <a:prstGeom prst="roundRect">
            <a:avLst>
              <a:gd name="adj" fmla="val 3947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97396" y="1828800"/>
            <a:ext cx="914400" cy="91440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0482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1436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31436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Vite · Tailwind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31436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حية، اعتماد العقارات قبل النشر، وحظر/فك حظر الحسابات.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1554480"/>
            <a:ext cx="3474720" cy="3749040"/>
          </a:xfrm>
          <a:prstGeom prst="roundRect">
            <a:avLst>
              <a:gd name="adj" fmla="val 3947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88920" y="1828800"/>
            <a:ext cx="914400" cy="91440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0482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 · TypeScript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Auth، مدفوعات Stripe، Redis caching، وبحث جغرافي بـ Haversine.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i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جزء بيحمي التاني، والحماية الأقوى في قلب النظام: قاعدة البيانات.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مش في الكود... الأمان في قلب الـ Database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669280" cy="3200400"/>
          </a:xfrm>
          <a:prstGeom prst="roundRect">
            <a:avLst>
              <a:gd name="adj" fmla="val 4286"/>
            </a:avLst>
          </a:prstGeom>
          <a:solidFill>
            <a:srgbClr val="05081A"/>
          </a:solidFill>
          <a:ln w="12700">
            <a:solidFill>
              <a:srgbClr val="0508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Exclusion Constraint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USING gist 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"listingId" WITH =,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tstzrange("startDate",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"endDate", '[)') WITH &amp;&amp;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WHERE (status 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E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('pending','confirmed'));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045952" y="1600200"/>
            <a:ext cx="594360" cy="59436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598" y="174284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1554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يشتغل مع الطلبات المتزامنة، ولا يعتمد على توقيت الكود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045952" y="2423160"/>
            <a:ext cx="594360" cy="59436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598" y="25658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83680" y="2377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مستحيل يتخطاه أي bug في الـ application layer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045952" y="3246120"/>
            <a:ext cx="594360" cy="59436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598" y="33887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83680" y="3200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الإلغاء بيحرر التواريخ، وتاريخ الخروج ممكن يبقى دخول الضيف التالي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1045952" y="4069080"/>
            <a:ext cx="594360" cy="59436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598" y="421172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83680" y="40233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مثبت باختبارات آلية (Vitest)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309360" y="5029200"/>
            <a:ext cx="5330952" cy="1188720"/>
          </a:xfrm>
          <a:prstGeom prst="roundRect">
            <a:avLst>
              <a:gd name="adj" fmla="val 11538"/>
            </a:avLst>
          </a:prstGeom>
          <a:solidFill>
            <a:srgbClr val="12352F"/>
          </a:solidFill>
          <a:ln w="12700">
            <a:solidFill>
              <a:srgbClr val="12352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725912" y="5303520"/>
            <a:ext cx="640080" cy="640080"/>
          </a:xfrm>
          <a:prstGeom prst="ellipse">
            <a:avLst/>
          </a:prstGeom>
          <a:solidFill>
            <a:srgbClr val="12352F"/>
          </a:solidFill>
          <a:ln w="12700">
            <a:solidFill>
              <a:srgbClr val="12352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9531" y="5457139"/>
            <a:ext cx="332842" cy="3328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8368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الأول
</a:t>
            </a:r>
            <a:pPr algn="r" indent="0" marL="0">
              <a:buNone/>
            </a:pPr>
            <a:r>
              <a:rPr lang="en-US" sz="14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يتسجل فورًا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48640" y="5029200"/>
            <a:ext cx="5330952" cy="1188720"/>
          </a:xfrm>
          <a:prstGeom prst="roundRect">
            <a:avLst>
              <a:gd name="adj" fmla="val 11538"/>
            </a:avLst>
          </a:prstGeom>
          <a:solidFill>
            <a:srgbClr val="3A1626"/>
          </a:solidFill>
          <a:ln w="12700">
            <a:solidFill>
              <a:srgbClr val="3A1626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965192" y="5303520"/>
            <a:ext cx="640080" cy="640080"/>
          </a:xfrm>
          <a:prstGeom prst="ellipse">
            <a:avLst/>
          </a:prstGeom>
          <a:solidFill>
            <a:srgbClr val="3A1626"/>
          </a:solidFill>
          <a:ln w="12700">
            <a:solidFill>
              <a:srgbClr val="3A1626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811" y="5457139"/>
            <a:ext cx="332842" cy="33284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2296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الثاني (نفس اللحظة)
</a:t>
            </a:r>
            <a:pPr algn="r" indent="0" marL="0">
              <a:buNone/>
            </a:pPr>
            <a:r>
              <a:rPr lang="en-US" sz="14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 نفسها بترفضه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نكسب لما الحجز ينجح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كل حجز مؤكد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مقترحة، تُضبط بعد دراسة السوق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6885432" cy="1234440"/>
          </a:xfrm>
          <a:prstGeom prst="roundRect">
            <a:avLst>
              <a:gd name="adj" fmla="val 11111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88752" y="1874520"/>
            <a:ext cx="777240" cy="77724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5290" y="206105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0" y="1828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الحجز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3042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تُحصَّل تلقائيًا عبر Stripe مع كل حجز مؤكد، موزعة بين الضيف والمضيف.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3127248"/>
            <a:ext cx="6885432" cy="1234440"/>
          </a:xfrm>
          <a:prstGeom prst="roundRect">
            <a:avLst>
              <a:gd name="adj" fmla="val 11111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88752" y="3355848"/>
            <a:ext cx="777240" cy="77724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290" y="3542386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0" y="33101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Premium للمضيفين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37856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إدارة متقدمة، تقارير، وأولوية ظهور.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4608576"/>
            <a:ext cx="6885432" cy="1234440"/>
          </a:xfrm>
          <a:prstGeom prst="roundRect">
            <a:avLst>
              <a:gd name="adj" fmla="val 11111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588752" y="4837176"/>
            <a:ext cx="777240" cy="77724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290" y="5023714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9200" y="479145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B2B: الـ API كخدمة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0" y="526694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Engine للفنادق الصغيرة وشركات إدارة العقارات.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التوسع: Modular Monolith يتقسم لـ services عند الحاجة · Redis · Docker · يصلح للشاليهات والقاعات والمعسكرات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شغال، مش شرائح بس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59536" y="1591056"/>
            <a:ext cx="1901952" cy="4041648"/>
          </a:xfrm>
          <a:prstGeom prst="roundRect">
            <a:avLst>
              <a:gd name="adj" fmla="val 5769"/>
            </a:avLst>
          </a:prstGeom>
          <a:solidFill>
            <a:srgbClr val="222A55"/>
          </a:solidFill>
          <a:ln w="12700">
            <a:solidFill>
              <a:srgbClr val="222A55"/>
            </a:solidFill>
            <a:prstDash val="solid"/>
          </a:ln>
        </p:spPr>
      </p:sp>
      <p:pic>
        <p:nvPicPr>
          <p:cNvPr id="4" name="Image 0" descr="/home/claude/deck/s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1792224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7424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والاستكشاف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971800" y="1591056"/>
            <a:ext cx="1901952" cy="4041648"/>
          </a:xfrm>
          <a:prstGeom prst="roundRect">
            <a:avLst>
              <a:gd name="adj" fmla="val 5769"/>
            </a:avLst>
          </a:prstGeom>
          <a:solidFill>
            <a:srgbClr val="222A55"/>
          </a:solidFill>
          <a:ln w="12700">
            <a:solidFill>
              <a:srgbClr val="222A55"/>
            </a:solidFill>
            <a:prstDash val="solid"/>
          </a:ln>
        </p:spPr>
      </p:sp>
      <p:pic>
        <p:nvPicPr>
          <p:cNvPr id="7" name="Image 1" descr="/home/claude/deck/s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1645920"/>
            <a:ext cx="1792224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43784" y="57424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العقارات المتاحة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84064" y="1591056"/>
            <a:ext cx="1901952" cy="4041648"/>
          </a:xfrm>
          <a:prstGeom prst="roundRect">
            <a:avLst>
              <a:gd name="adj" fmla="val 5769"/>
            </a:avLst>
          </a:prstGeom>
          <a:solidFill>
            <a:srgbClr val="222A55"/>
          </a:solidFill>
          <a:ln w="12700">
            <a:solidFill>
              <a:srgbClr val="222A55"/>
            </a:solidFill>
            <a:prstDash val="solid"/>
          </a:ln>
        </p:spPr>
      </p:sp>
      <p:pic>
        <p:nvPicPr>
          <p:cNvPr id="10" name="Image 2" descr="/home/claude/deck/s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645920"/>
            <a:ext cx="1792224" cy="3931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56048" y="57424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المضيف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138160" y="1645920"/>
            <a:ext cx="3502152" cy="4297680"/>
          </a:xfrm>
          <a:prstGeom prst="roundRect">
            <a:avLst>
              <a:gd name="adj" fmla="val 3916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366760" y="18288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الحالية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11000232" y="2514600"/>
            <a:ext cx="411480" cy="41148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987" y="261335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6676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Flutter بنسخة release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1000232" y="3172968"/>
            <a:ext cx="411480" cy="41148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8987" y="3271723"/>
            <a:ext cx="213970" cy="21397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66760" y="3172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اختبارات آلية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11000232" y="3831336"/>
            <a:ext cx="411480" cy="41148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8987" y="3930091"/>
            <a:ext cx="213970" cy="21397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366760" y="38313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Admin بـ React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11000232" y="4489704"/>
            <a:ext cx="411480" cy="411480"/>
          </a:xfrm>
          <a:prstGeom prst="ellipse">
            <a:avLst/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8987" y="4588459"/>
            <a:ext cx="213970" cy="21397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66760" y="44897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أدوار: Guest / Host / Admin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8366760" y="52578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القادمة: pilot مع مضيف حقيقي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إحنا الفريق اللي يفوز؟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852160" y="1645920"/>
            <a:ext cx="5788152" cy="1188720"/>
          </a:xfrm>
          <a:prstGeom prst="roundRect">
            <a:avLst>
              <a:gd name="adj" fmla="val 11538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4472" y="1874520"/>
            <a:ext cx="731520" cy="73152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037" y="20500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810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 هندسي حقيقي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40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حقيقية بحل على مستوى قاعدة البيانات، مش واجهة جميلة بس.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3063240"/>
            <a:ext cx="5788152" cy="1188720"/>
          </a:xfrm>
          <a:prstGeom prst="roundRect">
            <a:avLst>
              <a:gd name="adj" fmla="val 11538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34472" y="3291840"/>
            <a:ext cx="731520" cy="73152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037" y="34674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26480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كامل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36576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منتجات مترابطة: موبايل + API + إدارة.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52160" y="4480560"/>
            <a:ext cx="5788152" cy="1188720"/>
          </a:xfrm>
          <a:prstGeom prst="roundRect">
            <a:avLst>
              <a:gd name="adj" fmla="val 11538"/>
            </a:avLst>
          </a:prstGeom>
          <a:solidFill>
            <a:srgbClr val="151B3D"/>
          </a:solidFill>
          <a:ln w="12700">
            <a:solidFill>
              <a:srgbClr val="151B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634472" y="4709160"/>
            <a:ext cx="731520" cy="731520"/>
          </a:xfrm>
          <a:prstGeom prst="ellipse">
            <a:avLst/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037" y="48847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46451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يبني ويشحن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50749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الـ database لحد الـ UI.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645920"/>
            <a:ext cx="4846320" cy="4206240"/>
          </a:xfrm>
          <a:prstGeom prst="roundRect">
            <a:avLst>
              <a:gd name="adj" fmla="val 3261"/>
            </a:avLst>
          </a:prstGeom>
          <a:solidFill>
            <a:srgbClr val="2EE6A6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 لأول Pilot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2560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شريك مضيف للتجربة الأولى، أو دعم لإطلاق المرحلة الأولى في مدينة واحدة.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240280" y="374904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240280" y="3749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394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github.com/muham-ed/airbnb-clone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i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رؤيتنا: كل حجز في المنطقة العربية يبقى مضمون.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StayLock Pitch Deck</dc:title>
  <dc:subject>PptxGenJS Presentation</dc:subject>
  <dc:creator>PptxGenJS</dc:creator>
  <cp:lastModifiedBy>PptxGenJS</cp:lastModifiedBy>
  <cp:revision>1</cp:revision>
  <dcterms:created xsi:type="dcterms:W3CDTF">2026-09-29T22:03:48Z</dcterms:created>
  <dcterms:modified xsi:type="dcterms:W3CDTF">2026-09-29T22:03:48Z</dcterms:modified>
</cp:coreProperties>
</file>